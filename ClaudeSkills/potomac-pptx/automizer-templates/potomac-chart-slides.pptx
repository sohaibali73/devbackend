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Fund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0.9</c:v>
                </c:pt>
                <c:pt idx="2">
                  <c:v>1.5</c:v>
                </c:pt>
                <c:pt idx="3">
                  <c:v>-0.3</c:v>
                </c:pt>
                <c:pt idx="4">
                  <c:v>1.8</c:v>
                </c:pt>
                <c:pt idx="5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1.8</c:v>
                </c:pt>
                <c:pt idx="1">
                  <c:v>1.1</c:v>
                </c:pt>
                <c:pt idx="2">
                  <c:v>1.3</c:v>
                </c:pt>
                <c:pt idx="3">
                  <c:v>0.2</c:v>
                </c:pt>
                <c:pt idx="4">
                  <c:v>1.5</c:v>
                </c:pt>
                <c:pt idx="5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</c:v>
                </c:pt>
                <c:pt idx="1">
                  <c:v>5.8</c:v>
                </c:pt>
                <c:pt idx="2">
                  <c:v>7.1</c:v>
                </c:pt>
                <c:pt idx="3">
                  <c:v>9.4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Index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</c:v>
                </c:pt>
                <c:pt idx="1">
                  <c:v>4.9</c:v>
                </c:pt>
                <c:pt idx="2">
                  <c:v>6.3</c:v>
                </c:pt>
                <c:pt idx="3">
                  <c:v>8.1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(bps)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Security
Selection</c:v>
                </c:pt>
                <c:pt idx="1">
                  <c:v>Sector
Allocation</c:v>
                </c:pt>
                <c:pt idx="2">
                  <c:v>Currency</c:v>
                </c:pt>
                <c:pt idx="3">
                  <c:v>Other</c:v>
                </c:pt>
                <c:pt idx="4">
                  <c:v>Total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22</c:v>
                </c:pt>
                <c:pt idx="2">
                  <c:v>-8</c:v>
                </c:pt>
                <c:pt idx="3">
                  <c:v>3</c:v>
                </c:pt>
                <c:pt idx="4">
                  <c:v>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Area"/>
          <p:cNvSpPr txBox="1"/>
          <p:nvPr/>
        </p:nvSpPr>
        <p:spPr>
          <a:xfrm>
            <a:off x="7818120" y="1371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4" name="TitleText"/>
          <p:cNvSpPr txBox="1"/>
          <p:nvPr/>
        </p:nvSpPr>
        <p:spPr>
          <a:xfrm>
            <a:off x="457200" y="32004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Rajdhani"/>
              </a:rPr>
              <a:t>PERFORMANCE COMPARISON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PerformanceChart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aptionText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Quicksand"/>
              </a:rPr>
              <a:t>Source: Potomac | As of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Area"/>
          <p:cNvSpPr txBox="1"/>
          <p:nvPr/>
        </p:nvSpPr>
        <p:spPr>
          <a:xfrm>
            <a:off x="7818120" y="1371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4" name="TitleText"/>
          <p:cNvSpPr txBox="1"/>
          <p:nvPr/>
        </p:nvSpPr>
        <p:spPr>
          <a:xfrm>
            <a:off x="457200" y="32004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Rajdhani"/>
              </a:rPr>
              <a:t>CUMULATIVE RETURNS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rendChart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aptionText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Quicksand"/>
              </a:rPr>
              <a:t>Source: Potomac | As of {{date}}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Area"/>
          <p:cNvSpPr txBox="1"/>
          <p:nvPr/>
        </p:nvSpPr>
        <p:spPr>
          <a:xfrm>
            <a:off x="7818120" y="1371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4" name="TitleText"/>
          <p:cNvSpPr txBox="1"/>
          <p:nvPr/>
        </p:nvSpPr>
        <p:spPr>
          <a:xfrm>
            <a:off x="457200" y="32004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Rajdhani"/>
              </a:rPr>
              <a:t>ATTRIBUTION ANALYSIS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AttributionChart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aptionText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Quicksand"/>
              </a:rPr>
              <a:t>Source: Potomac | As of {{date}}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