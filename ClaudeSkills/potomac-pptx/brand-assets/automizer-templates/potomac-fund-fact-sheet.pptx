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Sector A</c:v>
                </c:pt>
                <c:pt idx="1">
                  <c:v>Sector B</c:v>
                </c:pt>
                <c:pt idx="2">
                  <c:v>Sector C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35.0</c:v>
                </c:pt>
                <c:pt idx="1">
                  <c:v>28.0</c:v>
                </c:pt>
                <c:pt idx="2">
                  <c:v>22.0</c:v>
                </c:pt>
                <c:pt idx="3">
                  <c:v>15.0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589520" y="914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FundName"/>
          <p:cNvSpPr txBox="1"/>
          <p:nvPr/>
        </p:nvSpPr>
        <p:spPr>
          <a:xfrm>
            <a:off x="320040" y="91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Rajdhani"/>
              </a:rPr>
              <a:t>{{fund_name}}</a:t>
            </a:r>
          </a:p>
        </p:txBody>
      </p:sp>
      <p:sp>
        <p:nvSpPr>
          <p:cNvPr id="5" name="AsOfDate"/>
          <p:cNvSpPr txBox="1"/>
          <p:nvPr/>
        </p:nvSpPr>
        <p:spPr>
          <a:xfrm>
            <a:off x="3200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Quicksand"/>
              </a:rPr>
              <a:t>As of {{date}}  |  Fact Sheet</a:t>
            </a:r>
          </a:p>
        </p:txBody>
      </p:sp>
      <p:sp>
        <p:nvSpPr>
          <p:cNvPr id="6" name="HeaderDivider"/>
          <p:cNvSpPr/>
          <p:nvPr/>
        </p:nvSpPr>
        <p:spPr>
          <a:xfrm>
            <a:off x="320040" y="914400"/>
            <a:ext cx="8686800" cy="4572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undDescription"/>
          <p:cNvSpPr txBox="1"/>
          <p:nvPr/>
        </p:nvSpPr>
        <p:spPr>
          <a:xfrm>
            <a:off x="320040" y="1005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Quicksand"/>
              </a:rPr>
              <a:t>{{fund_description}}</a:t>
            </a:r>
          </a:p>
        </p:txBody>
      </p:sp>
      <p:sp>
        <p:nvSpPr>
          <p:cNvPr id="8" name="InfoLabel_InceptionDate"/>
          <p:cNvSpPr txBox="1"/>
          <p:nvPr/>
        </p:nvSpPr>
        <p:spPr>
          <a:xfrm>
            <a:off x="5715000" y="1005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99"/>
                </a:solidFill>
                <a:latin typeface="Quicksand"/>
              </a:rPr>
              <a:t>Inception Date</a:t>
            </a:r>
          </a:p>
        </p:txBody>
      </p:sp>
      <p:sp>
        <p:nvSpPr>
          <p:cNvPr id="9" name="InceptionDate"/>
          <p:cNvSpPr txBox="1"/>
          <p:nvPr/>
        </p:nvSpPr>
        <p:spPr>
          <a:xfrm>
            <a:off x="7178040" y="1005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12121"/>
                </a:solidFill>
                <a:latin typeface="Quicksand"/>
              </a:rPr>
              <a:t>{{inception_date}}</a:t>
            </a:r>
          </a:p>
        </p:txBody>
      </p:sp>
      <p:sp>
        <p:nvSpPr>
          <p:cNvPr id="10" name="InfoLabel_AUM"/>
          <p:cNvSpPr txBox="1"/>
          <p:nvPr/>
        </p:nvSpPr>
        <p:spPr>
          <a:xfrm>
            <a:off x="5715000" y="1335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99"/>
                </a:solidFill>
                <a:latin typeface="Quicksand"/>
              </a:rPr>
              <a:t>AUM</a:t>
            </a:r>
          </a:p>
        </p:txBody>
      </p:sp>
      <p:sp>
        <p:nvSpPr>
          <p:cNvPr id="11" name="AUM"/>
          <p:cNvSpPr txBox="1"/>
          <p:nvPr/>
        </p:nvSpPr>
        <p:spPr>
          <a:xfrm>
            <a:off x="7178040" y="133502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12121"/>
                </a:solidFill>
                <a:latin typeface="Quicksand"/>
              </a:rPr>
              <a:t>{{aum}}</a:t>
            </a:r>
          </a:p>
        </p:txBody>
      </p:sp>
      <p:sp>
        <p:nvSpPr>
          <p:cNvPr id="12" name="InfoLabel_NAV"/>
          <p:cNvSpPr txBox="1"/>
          <p:nvPr/>
        </p:nvSpPr>
        <p:spPr>
          <a:xfrm>
            <a:off x="571500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99"/>
                </a:solidFill>
                <a:latin typeface="Quicksand"/>
              </a:rPr>
              <a:t>NAV</a:t>
            </a:r>
          </a:p>
        </p:txBody>
      </p:sp>
      <p:sp>
        <p:nvSpPr>
          <p:cNvPr id="13" name="NAV"/>
          <p:cNvSpPr txBox="1"/>
          <p:nvPr/>
        </p:nvSpPr>
        <p:spPr>
          <a:xfrm>
            <a:off x="7178040" y="166420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12121"/>
                </a:solidFill>
                <a:latin typeface="Quicksand"/>
              </a:rPr>
              <a:t>{{nav}}</a:t>
            </a:r>
          </a:p>
        </p:txBody>
      </p:sp>
      <p:sp>
        <p:nvSpPr>
          <p:cNvPr id="14" name="PerfSectionBg"/>
          <p:cNvSpPr/>
          <p:nvPr/>
        </p:nvSpPr>
        <p:spPr>
          <a:xfrm>
            <a:off x="320040" y="1874519"/>
            <a:ext cx="5303520" cy="292608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rfSectionLabel"/>
          <p:cNvSpPr txBox="1"/>
          <p:nvPr/>
        </p:nvSpPr>
        <p:spPr>
          <a:xfrm>
            <a:off x="320040" y="187451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Rajdhani"/>
              </a:rPr>
              <a:t>PERFORMANCE</a:t>
            </a:r>
          </a:p>
        </p:txBody>
      </p:sp>
      <p:graphicFrame>
        <p:nvGraphicFramePr>
          <p:cNvPr id="16" name="PerformanceTable"/>
          <p:cNvGraphicFramePr>
            <a:graphicFrameLocks noGrp="1"/>
          </p:cNvGraphicFramePr>
          <p:nvPr/>
        </p:nvGraphicFramePr>
        <p:xfrm>
          <a:off x="320040" y="2167128"/>
          <a:ext cx="530352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822960"/>
                <a:gridCol w="822960"/>
                <a:gridCol w="82296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/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YTD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1 YEAR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3 YEAR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5 YEAR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SINCE INCEPTION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{{ytd}}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{{1y}}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{{3y}}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{{5y}}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{{si}}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Benchmark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{{bmk_ytd}}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{{bmk_1y}}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{{bmk_3y}}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{{bmk_5y}}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{{bmk_si}}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17" name="BenchmarkName"/>
          <p:cNvSpPr txBox="1"/>
          <p:nvPr/>
        </p:nvSpPr>
        <p:spPr>
          <a:xfrm>
            <a:off x="320040" y="3035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Quicksand"/>
              </a:rPr>
              <a:t>Benchmark: {{benchmark_name}}</a:t>
            </a:r>
          </a:p>
        </p:txBody>
      </p:sp>
      <p:sp>
        <p:nvSpPr>
          <p:cNvPr id="18" name="HoldingsSectionBg"/>
          <p:cNvSpPr/>
          <p:nvPr/>
        </p:nvSpPr>
        <p:spPr>
          <a:xfrm>
            <a:off x="320040" y="3383280"/>
            <a:ext cx="5303520" cy="292608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ldingsSectionLabel"/>
          <p:cNvSpPr txBox="1"/>
          <p:nvPr/>
        </p:nvSpPr>
        <p:spPr>
          <a:xfrm>
            <a:off x="32004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Rajdhani"/>
              </a:rPr>
              <a:t>TOP HOLDINGS</a:t>
            </a:r>
          </a:p>
        </p:txBody>
      </p:sp>
      <p:graphicFrame>
        <p:nvGraphicFramePr>
          <p:cNvPr id="20" name="HoldingsTable"/>
          <p:cNvGraphicFramePr>
            <a:graphicFrameLocks noGrp="1"/>
          </p:cNvGraphicFramePr>
          <p:nvPr/>
        </p:nvGraphicFramePr>
        <p:xfrm>
          <a:off x="320040" y="3675887"/>
          <a:ext cx="53035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SECURITY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WEIGHT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RETURN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{{holding_1_name}}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{{holding_1_weight}}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{{holding_1_return}}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{{holding_2_name}}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{{holding_2_weight}}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{{holding_2_return}}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{{holding_3_name}}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{{holding_3_weight}}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{{holding_3_return}}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{{holding_4_name}}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{{holding_4_weight}}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{{holding_4_return}}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{{holding_5_name}}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{{holding_5_weight}}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{{holding_5_return}}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iskSectionBg"/>
          <p:cNvSpPr/>
          <p:nvPr/>
        </p:nvSpPr>
        <p:spPr>
          <a:xfrm>
            <a:off x="5715000" y="1874519"/>
            <a:ext cx="3291840" cy="292608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skSectionLabel"/>
          <p:cNvSpPr txBox="1"/>
          <p:nvPr/>
        </p:nvSpPr>
        <p:spPr>
          <a:xfrm>
            <a:off x="5715000" y="187451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Rajdhani"/>
              </a:rPr>
              <a:t>RISK METRICS</a:t>
            </a:r>
          </a:p>
        </p:txBody>
      </p:sp>
      <p:graphicFrame>
        <p:nvGraphicFramePr>
          <p:cNvPr id="23" name="RiskMetricsTable"/>
          <p:cNvGraphicFramePr>
            <a:graphicFrameLocks noGrp="1"/>
          </p:cNvGraphicFramePr>
          <p:nvPr/>
        </p:nvGraphicFramePr>
        <p:xfrm>
          <a:off x="5715000" y="2167128"/>
          <a:ext cx="32918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METRIC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VALUE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Sharpe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{{sharpe}}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Sortino Ratio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{{sortino}}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Max 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{{max_dd}}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Beta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{{beta}}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Std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{{std_dev}}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AllocSectionBg"/>
          <p:cNvSpPr/>
          <p:nvPr/>
        </p:nvSpPr>
        <p:spPr>
          <a:xfrm>
            <a:off x="5715000" y="3383280"/>
            <a:ext cx="3291840" cy="292608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llocSectionLabel"/>
          <p:cNvSpPr txBox="1"/>
          <p:nvPr/>
        </p:nvSpPr>
        <p:spPr>
          <a:xfrm>
            <a:off x="5715000" y="33832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12121"/>
                </a:solidFill>
                <a:latin typeface="Rajdhani"/>
              </a:rPr>
              <a:t>SECTOR ALLOCATION</a:t>
            </a:r>
          </a:p>
        </p:txBody>
      </p:sp>
      <p:graphicFrame>
        <p:nvGraphicFramePr>
          <p:cNvPr id="26" name="AllocationChart"/>
          <p:cNvGraphicFramePr>
            <a:graphicFrameLocks noGrp="1"/>
          </p:cNvGraphicFramePr>
          <p:nvPr/>
        </p:nvGraphicFramePr>
        <p:xfrm>
          <a:off x="5715000" y="3675887"/>
          <a:ext cx="329184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FooterBar"/>
          <p:cNvSpPr/>
          <p:nvPr/>
        </p:nvSpPr>
        <p:spPr>
          <a:xfrm>
            <a:off x="320040" y="6492240"/>
            <a:ext cx="8686800" cy="4572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oterText"/>
          <p:cNvSpPr txBox="1"/>
          <p:nvPr/>
        </p:nvSpPr>
        <p:spPr>
          <a:xfrm>
            <a:off x="320040" y="65653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  <a:latin typeface="Quicksand"/>
              </a:rPr>
              <a:t>Potomac Fund Management | Built to Conquer Risk® | For Advisor Use Only |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