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Area"/>
          <p:cNvSpPr txBox="1"/>
          <p:nvPr/>
        </p:nvSpPr>
        <p:spPr>
          <a:xfrm>
            <a:off x="7818120" y="13716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12121"/>
                </a:solidFill>
                <a:latin typeface="Rajdhani"/>
              </a:rPr>
              <a:t>POTOMAC</a:t>
            </a:r>
          </a:p>
        </p:txBody>
      </p:sp>
      <p:sp>
        <p:nvSpPr>
          <p:cNvPr id="4" name="TitleText"/>
          <p:cNvSpPr txBox="1"/>
          <p:nvPr/>
        </p:nvSpPr>
        <p:spPr>
          <a:xfrm>
            <a:off x="457200" y="320040"/>
            <a:ext cx="7223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Rajdhani"/>
              </a:rPr>
              <a:t>DATA TABLE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DataTable"/>
          <p:cNvGraphicFramePr>
            <a:graphicFrameLocks noGrp="1"/>
          </p:cNvGraphicFramePr>
          <p:nvPr/>
        </p:nvGraphicFramePr>
        <p:xfrm>
          <a:off x="457200" y="1371600"/>
          <a:ext cx="822960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NAME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VALUE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CHANGE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WEIGHT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Item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$100.00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+2.1%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Item B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$85.50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+1.8%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20.0%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Item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$72.30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-0.5%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18.0%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Item D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$68.90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+3.2%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15.0%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Item 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$55.40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+0.9%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12.0%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TOTAL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$382.10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+1.7%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100.0%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</a:tbl>
          </a:graphicData>
        </a:graphic>
      </p:graphicFrame>
      <p:sp>
        <p:nvSpPr>
          <p:cNvPr id="7" name="CaptionText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Quicksand"/>
              </a:rPr>
              <a:t>Source: Potomac | As of 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Area"/>
          <p:cNvSpPr txBox="1"/>
          <p:nvPr/>
        </p:nvSpPr>
        <p:spPr>
          <a:xfrm>
            <a:off x="7818120" y="13716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12121"/>
                </a:solidFill>
                <a:latin typeface="Rajdhani"/>
              </a:rPr>
              <a:t>POTOMAC</a:t>
            </a:r>
          </a:p>
        </p:txBody>
      </p:sp>
      <p:sp>
        <p:nvSpPr>
          <p:cNvPr id="4" name="TitleText"/>
          <p:cNvSpPr txBox="1"/>
          <p:nvPr/>
        </p:nvSpPr>
        <p:spPr>
          <a:xfrm>
            <a:off x="457200" y="320040"/>
            <a:ext cx="7223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Rajdhani"/>
              </a:rPr>
              <a:t>TOP HOLDINGS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HoldingsTable"/>
          <p:cNvGraphicFramePr>
            <a:graphicFrameLocks noGrp="1"/>
          </p:cNvGraphicFramePr>
          <p:nvPr/>
        </p:nvGraphicFramePr>
        <p:xfrm>
          <a:off x="457200" y="1371600"/>
          <a:ext cx="822960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97280"/>
                <a:gridCol w="1371600"/>
                <a:gridCol w="1600200"/>
                <a:gridCol w="160020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SECURITY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TICKER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WEIGHT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RETURN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CONTRIBUTION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Apple Inc.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AAPL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+15.3%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+1.25%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Microsoft Corp.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MSFT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7.1%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+12.8%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+0.91%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NVIDIA Corp.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NVDA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+28.4%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+1.65%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Amazon.com Inc.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AMZN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4.9%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+8.6%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+0.42%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Alphabet Inc.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GOOGL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+11.2%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+0.47%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ptionText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Quicksand"/>
              </a:rPr>
              <a:t>As of {{date}} | {{num_holdings}} total positions | {{strategy}}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Area"/>
          <p:cNvSpPr txBox="1"/>
          <p:nvPr/>
        </p:nvSpPr>
        <p:spPr>
          <a:xfrm>
            <a:off x="7818120" y="13716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12121"/>
                </a:solidFill>
                <a:latin typeface="Rajdhani"/>
              </a:rPr>
              <a:t>POTOMAC</a:t>
            </a:r>
          </a:p>
        </p:txBody>
      </p:sp>
      <p:sp>
        <p:nvSpPr>
          <p:cNvPr id="4" name="TitleText"/>
          <p:cNvSpPr txBox="1"/>
          <p:nvPr/>
        </p:nvSpPr>
        <p:spPr>
          <a:xfrm>
            <a:off x="457200" y="320040"/>
            <a:ext cx="7223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Rajdhani"/>
              </a:rPr>
              <a:t>RISK SCORECARD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ScorecardTable"/>
          <p:cNvGraphicFramePr>
            <a:graphicFrameLocks noGrp="1"/>
          </p:cNvGraphicFramePr>
          <p:nvPr/>
        </p:nvGraphicFramePr>
        <p:xfrm>
          <a:off x="457200" y="1371600"/>
          <a:ext cx="822960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  <a:gridCol w="228600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METRIC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STATUS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CURRENT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THRESHOLD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121"/>
                          </a:solidFill>
                          <a:latin typeface="Rajdhani"/>
                        </a:rPr>
                        <a:t>COMMENTARY</a:t>
                      </a:r>
                    </a:p>
                  </a:txBody>
                  <a:tcPr>
                    <a:solidFill>
                      <a:srgbClr val="FEC00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Portfolio VaR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● ON TRACK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Within 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Concentration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● AT RISK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18.5%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15.0%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Monitor closely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Drawdown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● ON TRACK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-4.2%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-10.0%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Acceptable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Beta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● ON TRACK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0.87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1.20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Low market exposure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Liquidity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● BREACH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82.1%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121"/>
                          </a:solidFill>
                          <a:latin typeface="Quicksand"/>
                        </a:rPr>
                        <a:t>Needs rebalancing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ptionText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Quicksand"/>
              </a:rPr>
              <a:t>Monitoring period: {{period}} | Last updated: {{date}}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