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678" y="274320"/>
            <a:ext cx="2438339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1817370"/>
            <a:ext cx="11277318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COMMODITIES DEMYSTIFIED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189" y="3360420"/>
            <a:ext cx="11277318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Section B: How Commodity Trading Works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189" y="4354830"/>
            <a:ext cx="11277318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189" y="4581144"/>
            <a:ext cx="1127731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Summary of Trafigura's Operational Guide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323594"/>
            <a:ext cx="11277318" cy="52600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Section B presents commodity trading as physical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Trafigura serves as case study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Trading firms transform across space/time/form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3% margin typical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Low-margin high-volume service business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CHAPTER 5 &amp; 6 — SOURCING AND TRANSPORTING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323594"/>
            <a:ext cx="555293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SOURCING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89" y="1872234"/>
            <a:ext cx="5552934" cy="47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Trading firms maximise differential.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Upstream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JVs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Pre-payment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Technical support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81573" y="1323594"/>
            <a:ext cx="555293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TRANSPORTING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81573" y="1872234"/>
            <a:ext cx="5552934" cy="47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Multimodal logistics.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Inland: trucks/rail/barge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Ocean: time and voyage charters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20% LNG spot.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CHAPTER 7 &amp; 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323594"/>
            <a:ext cx="555293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189" y="1872234"/>
            <a:ext cx="5552934" cy="47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Bridge gaps: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Own midstream storage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Maintain inventories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Arbitrage with futures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81573" y="1323594"/>
            <a:ext cx="555293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BLENDING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81573" y="1872234"/>
            <a:ext cx="5552934" cy="471144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Blend multiple sources: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Copper: arsenic mix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Iron ore: traders store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- Oil: refinery giveaways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CHAPTER 9 — DELIVERING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323594"/>
            <a:ext cx="11277318" cy="52600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Operations covers deal close to delivery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Eight execution areas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Demurrage monitored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Inspectors certify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Insurance per leg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Reconcile volumes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DOWNSTREAM INTEGRATION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89" y="1323594"/>
            <a:ext cx="11277318" cy="526008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Arbitrage more fleeting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Trafigura took Nyrstar stake 2015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Puma Energy in 49 countries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LNG: FSRUs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Long-term contracts</a:t>
            </a:r>
            <a:pPr algn="l"/>
            <a:r>
              <a:rPr lang="en-US" sz="20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Volume business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4109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88628" y="274320"/>
            <a:ext cx="1645879" cy="6172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74320"/>
            <a:ext cx="9540001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KEY FACTS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189" y="1097280"/>
            <a:ext cx="19080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486" y="1501891"/>
            <a:ext cx="3288212" cy="1029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35486" y="2625162"/>
            <a:ext cx="3288212" cy="748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Chapters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451742" y="1501891"/>
            <a:ext cx="3288212" cy="1029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51742" y="2625162"/>
            <a:ext cx="3288212" cy="748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Max Margin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67998" y="1501891"/>
            <a:ext cx="3288212" cy="1029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267998" y="2625162"/>
            <a:ext cx="3288212" cy="748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LNG Spot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486" y="3902054"/>
            <a:ext cx="3288212" cy="1029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49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35486" y="5025325"/>
            <a:ext cx="3288212" cy="748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Puma Countries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51742" y="3902054"/>
            <a:ext cx="3288212" cy="1029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56%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451742" y="5025325"/>
            <a:ext cx="3288212" cy="748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Asia Copper Share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67998" y="3902054"/>
            <a:ext cx="3288212" cy="102966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19Mt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267998" y="5025325"/>
            <a:ext cx="3288212" cy="7488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World Copper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7189" y="5952470"/>
            <a:ext cx="11277318" cy="6312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Source: Trafigura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788" y="589788"/>
            <a:ext cx="681411" cy="68141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89788" y="1441552"/>
            <a:ext cx="11012119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READY TO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589788" y="2406884"/>
            <a:ext cx="11012119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GET STARTED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691000" y="3656137"/>
            <a:ext cx="8809695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5"/>
          <p:cNvSpPr/>
          <p:nvPr/>
        </p:nvSpPr>
        <p:spPr>
          <a:xfrm>
            <a:off x="589788" y="3826490"/>
            <a:ext cx="11012119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Commodities Demystified - Section B Summary</dc:title>
  <dc:subject>PptxGenJS Presentation</dc:subject>
  <dc:creator>Potomac</dc:creator>
  <cp:lastModifiedBy>Potomac</cp:lastModifiedBy>
  <cp:revision>1</cp:revision>
  <dcterms:created xsi:type="dcterms:W3CDTF">2026-05-18T12:54:48Z</dcterms:created>
  <dcterms:modified xsi:type="dcterms:W3CDTF">2026-05-18T12:54:48Z</dcterms:modified>
</cp:coreProperties>
</file>