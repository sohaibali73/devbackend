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FEC0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10.5</c:v>
                </c:pt>
                <c:pt idx="2">
                  <c:v>6.7</c:v>
                </c:pt>
                <c:pt idx="3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121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9.1</c:v>
                </c:pt>
                <c:pt idx="1">
                  <c:v>11.3</c:v>
                </c:pt>
                <c:pt idx="2">
                  <c:v>8</c:v>
                </c:pt>
                <c:pt idx="3">
                  <c:v>13.4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FEC00F"/>
            </a:solidFill>
            <a:ln w="25400" cap="flat">
              <a:solidFill>
                <a:srgbClr val="FEC0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EC00F"/>
              </a:solidFill>
              <a:ln w="9525" cap="flat">
                <a:solidFill>
                  <a:srgbClr val="FEC0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118</c:v>
                </c:pt>
                <c:pt idx="2">
                  <c:v>102</c:v>
                </c:pt>
                <c:pt idx="3">
                  <c:v>131</c:v>
                </c:pt>
                <c:pt idx="4">
                  <c:v>146</c:v>
                </c:pt>
                <c:pt idx="5">
                  <c:v>172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212121"/>
            </a:solidFill>
            <a:ln w="25400" cap="flat">
              <a:solidFill>
                <a:srgbClr val="2121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2121"/>
              </a:solidFill>
              <a:ln w="9525" cap="flat">
                <a:solidFill>
                  <a:srgbClr val="2121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112</c:v>
                </c:pt>
                <c:pt idx="2">
                  <c:v>95</c:v>
                </c:pt>
                <c:pt idx="3">
                  <c:v>121</c:v>
                </c:pt>
                <c:pt idx="4">
                  <c:v>130</c:v>
                </c:pt>
                <c:pt idx="5">
                  <c:v>151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EC00F"/>
              </a:solidFill>
              <a:effectLst/>
            </c:spPr>
          </c:dPt>
          <c:dPt>
            <c:idx val="1"/>
            <c:bubble3D val="0"/>
            <c:spPr>
              <a:solidFill>
                <a:srgbClr val="212121"/>
              </a:solidFill>
              <a:effectLst/>
            </c:spPr>
          </c:dPt>
          <c:dPt>
            <c:idx val="2"/>
            <c:bubble3D val="0"/>
            <c:spPr>
              <a:solidFill>
                <a:srgbClr val="999999"/>
              </a:solidFill>
              <a:effectLst/>
            </c:spPr>
          </c:dPt>
          <c:dPt>
            <c:idx val="3"/>
            <c:bubble3D val="0"/>
            <c:spPr>
              <a:solidFill>
                <a:srgbClr val="EB2F5C"/>
              </a:solidFill>
              <a:effectLst/>
            </c:spPr>
          </c:dPt>
          <c:dPt>
            <c:idx val="4"/>
            <c:bubble3D val="0"/>
            <c:spPr>
              <a:solidFill>
                <a:srgbClr val="22C55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US Equity</c:v>
                </c:pt>
                <c:pt idx="1">
                  <c:v>Intl Equity</c:v>
                </c:pt>
                <c:pt idx="2">
                  <c:v>Fixed Income</c:v>
                </c:pt>
                <c:pt idx="3">
                  <c:v>Alternatives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18</c:v>
                </c:pt>
                <c:pt idx="2">
                  <c:v>22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76678" y="704404"/>
            <a:ext cx="2438339" cy="511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1817370"/>
            <a:ext cx="11277318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KITCHEN SINK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189" y="33604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template, theme &amp; mode in one deck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189" y="4354830"/>
            <a:ext cx="11277318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189" y="4581144"/>
            <a:ext cx="1127731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16421" y="274320"/>
            <a:ext cx="1358853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1817370"/>
            <a:ext cx="11277318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DARK THEME TITLE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189" y="33604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Same template, different background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189" y="4354830"/>
            <a:ext cx="11277318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2" y="857250"/>
            <a:ext cx="6095848" cy="51435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2" y="857250"/>
            <a:ext cx="134109" cy="5143500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25204" y="1223001"/>
            <a:ext cx="475598" cy="480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53" y="1785357"/>
            <a:ext cx="5364346" cy="2057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1097253" y="1888227"/>
            <a:ext cx="5364346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53" y="2724903"/>
            <a:ext cx="5364346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97253" y="3561579"/>
            <a:ext cx="5364346" cy="3771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53" y="4103361"/>
            <a:ext cx="5364346" cy="2057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53" y="4123935"/>
            <a:ext cx="5364346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53" y="4549131"/>
            <a:ext cx="536434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Tactical,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53" y="5360679"/>
            <a:ext cx="5364346" cy="2743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26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5825" y="274320"/>
            <a:ext cx="611484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6844" y="2167128"/>
            <a:ext cx="10917663" cy="13880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SECTION DIVIDER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816844" y="3744468"/>
            <a:ext cx="10917663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Use between major sections of a longer deck.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CONTENT — BULLETS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186434"/>
            <a:ext cx="9540001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Standard list layout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189" y="1632204"/>
            <a:ext cx="11277318" cy="4951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Bullet one — concise, action-oriented copy.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Bullet two — supports up to ~10 items comfortably.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Bullet three — auto-fits font to the remaining space.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Bullet four — keeps hierarchy flat for readability.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05825" y="274320"/>
            <a:ext cx="611484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CONTENT — PROSE (DARK)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323594"/>
            <a:ext cx="11277318" cy="52600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single block of body copy wraps inside the standard chrome area. Font size is chosen via binary search so the text fills — but does not overflow — the available box. Switch to dark theme by setting theme:'dark' on the slide.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TWO COLUMN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323594"/>
            <a:ext cx="555293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LEFT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189" y="1872234"/>
            <a:ext cx="5552934" cy="47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Left column — used for pros, bull case, option A, etc.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81573" y="1323594"/>
            <a:ext cx="555293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RIGHT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81573" y="1872234"/>
            <a:ext cx="5552934" cy="47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Right column — used for cons, bear case, option B, etc.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KEY METRICS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323594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24%</a:t>
            </a:r>
            <a:endParaRPr lang="en-US" sz="6500" dirty="0"/>
          </a:p>
        </p:txBody>
      </p:sp>
      <p:sp>
        <p:nvSpPr>
          <p:cNvPr id="7" name="Text 4"/>
          <p:cNvSpPr/>
          <p:nvPr/>
        </p:nvSpPr>
        <p:spPr>
          <a:xfrm>
            <a:off x="457189" y="2613481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YTD Return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3319381" y="1323594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0.92</a:t>
            </a:r>
            <a:endParaRPr lang="en-US" sz="6500" dirty="0"/>
          </a:p>
        </p:txBody>
      </p:sp>
      <p:sp>
        <p:nvSpPr>
          <p:cNvPr id="9" name="Text 6"/>
          <p:cNvSpPr/>
          <p:nvPr/>
        </p:nvSpPr>
        <p:spPr>
          <a:xfrm>
            <a:off x="3319381" y="2613481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Sharpe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181573" y="1323594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-8%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6181573" y="2613481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Max Drawdown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9043765" y="1323594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$2.4B</a:t>
            </a:r>
            <a:endParaRPr lang="en-US" sz="6500" dirty="0"/>
          </a:p>
        </p:txBody>
      </p:sp>
      <p:sp>
        <p:nvSpPr>
          <p:cNvPr id="13" name="Text 10"/>
          <p:cNvSpPr/>
          <p:nvPr/>
        </p:nvSpPr>
        <p:spPr>
          <a:xfrm>
            <a:off x="9043765" y="2613481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AUM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457189" y="3644856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412</a:t>
            </a:r>
            <a:endParaRPr lang="en-US" sz="6500" dirty="0"/>
          </a:p>
        </p:txBody>
      </p:sp>
      <p:sp>
        <p:nvSpPr>
          <p:cNvPr id="15" name="Text 12"/>
          <p:cNvSpPr/>
          <p:nvPr/>
        </p:nvSpPr>
        <p:spPr>
          <a:xfrm>
            <a:off x="457189" y="4934742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Accounts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3319381" y="3644856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12yrs</a:t>
            </a:r>
            <a:endParaRPr lang="en-US" sz="6500" dirty="0"/>
          </a:p>
        </p:txBody>
      </p:sp>
      <p:sp>
        <p:nvSpPr>
          <p:cNvPr id="17" name="Text 14"/>
          <p:cNvSpPr/>
          <p:nvPr/>
        </p:nvSpPr>
        <p:spPr>
          <a:xfrm>
            <a:off x="3319381" y="4934742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Track Record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6181573" y="3644856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4.8/5</a:t>
            </a:r>
            <a:endParaRPr lang="en-US" sz="6500" dirty="0"/>
          </a:p>
        </p:txBody>
      </p:sp>
      <p:sp>
        <p:nvSpPr>
          <p:cNvPr id="19" name="Text 16"/>
          <p:cNvSpPr/>
          <p:nvPr/>
        </p:nvSpPr>
        <p:spPr>
          <a:xfrm>
            <a:off x="6181573" y="4934742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Advisor NPS</a:t>
            </a:r>
            <a:endParaRPr lang="en-US" sz="2900" dirty="0"/>
          </a:p>
        </p:txBody>
      </p:sp>
      <p:sp>
        <p:nvSpPr>
          <p:cNvPr id="20" name="Text 17"/>
          <p:cNvSpPr/>
          <p:nvPr/>
        </p:nvSpPr>
        <p:spPr>
          <a:xfrm>
            <a:off x="9043765" y="3644856"/>
            <a:ext cx="2690742" cy="11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1.02</a:t>
            </a:r>
            <a:endParaRPr lang="en-US" sz="6500" dirty="0"/>
          </a:p>
        </p:txBody>
      </p:sp>
      <p:sp>
        <p:nvSpPr>
          <p:cNvPr id="21" name="Text 18"/>
          <p:cNvSpPr/>
          <p:nvPr/>
        </p:nvSpPr>
        <p:spPr>
          <a:xfrm>
            <a:off x="9043765" y="4934742"/>
            <a:ext cx="2690742" cy="752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Beta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457189" y="5794667"/>
            <a:ext cx="11277318" cy="78901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As of Q3 2026 — net of fees, USD.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STAT 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323594"/>
            <a:ext cx="11277318" cy="9468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Three dark cards with a yellow eyebrow and big stat.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189" y="2441859"/>
            <a:ext cx="3644806" cy="414182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8" name="Text 5"/>
          <p:cNvSpPr/>
          <p:nvPr/>
        </p:nvSpPr>
        <p:spPr>
          <a:xfrm>
            <a:off x="748773" y="2773205"/>
            <a:ext cx="3061637" cy="455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GROWTH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8773" y="3353060"/>
            <a:ext cx="3061637" cy="12425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+38%</a:t>
            </a:r>
            <a:endParaRPr lang="en-US" sz="6800" dirty="0"/>
          </a:p>
        </p:txBody>
      </p:sp>
      <p:sp>
        <p:nvSpPr>
          <p:cNvPr id="10" name="Text 7"/>
          <p:cNvSpPr/>
          <p:nvPr/>
        </p:nvSpPr>
        <p:spPr>
          <a:xfrm>
            <a:off x="748773" y="4719861"/>
            <a:ext cx="3061637" cy="14496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Trailing 3-year gross CAGR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73445" y="2441859"/>
            <a:ext cx="3644806" cy="414182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2" name="Text 9"/>
          <p:cNvSpPr/>
          <p:nvPr/>
        </p:nvSpPr>
        <p:spPr>
          <a:xfrm>
            <a:off x="4565029" y="2773205"/>
            <a:ext cx="3061637" cy="455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DRAWDOWN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65029" y="3353060"/>
            <a:ext cx="3061637" cy="12425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-6.1%</a:t>
            </a:r>
            <a:endParaRPr lang="en-US" sz="6800" dirty="0"/>
          </a:p>
        </p:txBody>
      </p:sp>
      <p:sp>
        <p:nvSpPr>
          <p:cNvPr id="14" name="Text 11"/>
          <p:cNvSpPr/>
          <p:nvPr/>
        </p:nvSpPr>
        <p:spPr>
          <a:xfrm>
            <a:off x="4565029" y="4719861"/>
            <a:ext cx="3061637" cy="14496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Max peak-to-trough on the flagship sleeve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89701" y="2441859"/>
            <a:ext cx="3644806" cy="4141821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6" name="Text 13"/>
          <p:cNvSpPr/>
          <p:nvPr/>
        </p:nvSpPr>
        <p:spPr>
          <a:xfrm>
            <a:off x="8381285" y="2773205"/>
            <a:ext cx="3061637" cy="455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CONVICTION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81285" y="3353060"/>
            <a:ext cx="3061637" cy="12425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93%</a:t>
            </a:r>
            <a:endParaRPr lang="en-US" sz="6800" dirty="0"/>
          </a:p>
        </p:txBody>
      </p:sp>
      <p:sp>
        <p:nvSpPr>
          <p:cNvPr id="18" name="Text 15"/>
          <p:cNvSpPr/>
          <p:nvPr/>
        </p:nvSpPr>
        <p:spPr>
          <a:xfrm>
            <a:off x="8381285" y="4719861"/>
            <a:ext cx="3061637" cy="14496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% of positions with full model agreement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HEX ROW — STRATEGIES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186434"/>
            <a:ext cx="9540001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sleeves spanning two decades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2166975"/>
            <a:ext cx="2118304" cy="2446006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189" y="5271539"/>
            <a:ext cx="2118304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986764" y="6014260"/>
            <a:ext cx="1059152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189" y="6138047"/>
            <a:ext cx="2118304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2746942" y="2166975"/>
            <a:ext cx="2118304" cy="2446006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6942" y="5271539"/>
            <a:ext cx="2118304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3276518" y="6014260"/>
            <a:ext cx="1059152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6942" y="6138047"/>
            <a:ext cx="2118304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036696" y="2166975"/>
            <a:ext cx="2118304" cy="2446006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36696" y="5271539"/>
            <a:ext cx="2118304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5566272" y="6014260"/>
            <a:ext cx="1059152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36696" y="6138047"/>
            <a:ext cx="2118304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326449" y="2166975"/>
            <a:ext cx="2118304" cy="2446006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26449" y="5271539"/>
            <a:ext cx="2118304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7856025" y="6014260"/>
            <a:ext cx="1059152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26449" y="6138047"/>
            <a:ext cx="2118304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9616203" y="2166975"/>
            <a:ext cx="2118304" cy="2446006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16203" y="5271539"/>
            <a:ext cx="2118304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ATLAS</a:t>
            </a:r>
            <a:endParaRPr lang="en-US" sz="3200" dirty="0"/>
          </a:p>
        </p:txBody>
      </p:sp>
      <p:sp>
        <p:nvSpPr>
          <p:cNvPr id="25" name="Shape 22"/>
          <p:cNvSpPr/>
          <p:nvPr/>
        </p:nvSpPr>
        <p:spPr>
          <a:xfrm>
            <a:off x="10145779" y="6014260"/>
            <a:ext cx="1059152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16203" y="6138047"/>
            <a:ext cx="2118304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2024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743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TEAM TRIAD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2113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2113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5815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59180" y="3494919"/>
            <a:ext cx="451093" cy="45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79432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4357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4357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38059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81423" y="3494919"/>
            <a:ext cx="451093" cy="45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01675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86600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6600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60302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PERFORMANCE TABLE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323594"/>
          <a:ext cx="11277318" cy="914400"/>
        </p:xfrm>
        <a:graphic>
          <a:graphicData uri="http://schemas.openxmlformats.org/drawingml/2006/table">
            <a:tbl>
              <a:tblPr/>
              <a:tblGrid>
                <a:gridCol w="2255464"/>
                <a:gridCol w="2255464"/>
                <a:gridCol w="2255464"/>
                <a:gridCol w="2255464"/>
                <a:gridCol w="2255464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STRATEGY</a:t>
                      </a:r>
                      <a:endParaRPr lang="en-US" sz="11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1Y</a:t>
                      </a:r>
                      <a:endParaRPr lang="en-US" sz="11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3Y (ANN.)</a:t>
                      </a:r>
                      <a:endParaRPr lang="en-US" sz="11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5Y (ANN.)</a:t>
                      </a:r>
                      <a:endParaRPr lang="en-US" sz="11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Rajdhani" pitchFamily="34" charset="0"/>
                          <a:ea typeface="Rajdhani" pitchFamily="34" charset="-122"/>
                          <a:cs typeface="Rajdhani" pitchFamily="34" charset="-120"/>
                        </a:rPr>
                        <a:t>SINCE INCEPTION</a:t>
                      </a:r>
                      <a:endParaRPr lang="en-US" sz="1100" dirty="0">
                        <a:latin typeface="Rajdhani" charset="0"/>
                        <a:ea typeface="Rajdhani" charset="0"/>
                        <a:cs typeface="Rajdhan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00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First Step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18.2%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12.4%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11.8%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9.7%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Evolution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22.1%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14.0%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13.5%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11.2%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Opportunity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28.7%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17.2%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15.1%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13.4%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Insight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24.3%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15.5%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—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14.0%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Atlas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11.6%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—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—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11.6%</a:t>
                      </a:r>
                      <a:endParaRPr lang="en-US" sz="11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CHART — BAR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189" y="1323594"/>
          <a:ext cx="11277318" cy="526008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CHART — 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189" y="1323594"/>
          <a:ext cx="11277318" cy="526008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CHART — DONUT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189" y="1323594"/>
          <a:ext cx="11277318" cy="526008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274320"/>
            <a:ext cx="1127732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"</a:t>
            </a:r>
            <a:endParaRPr lang="en-US" sz="7400" dirty="0"/>
          </a:p>
        </p:txBody>
      </p:sp>
      <p:sp>
        <p:nvSpPr>
          <p:cNvPr id="4" name="Text 1"/>
          <p:cNvSpPr/>
          <p:nvPr/>
        </p:nvSpPr>
        <p:spPr>
          <a:xfrm>
            <a:off x="457189" y="1536192"/>
            <a:ext cx="11277318" cy="22082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 comes from not knowing what you're doing.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189" y="3933749"/>
            <a:ext cx="11277318" cy="5047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— Warren Buffett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189" y="4627778"/>
            <a:ext cx="11277318" cy="37856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Annual Letter — 1993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2857" y="589788"/>
            <a:ext cx="675272" cy="68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788" y="1441552"/>
            <a:ext cx="11012119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589788" y="2406884"/>
            <a:ext cx="11012119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691000" y="3656137"/>
            <a:ext cx="8809695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3826490"/>
            <a:ext cx="11012119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9788" y="4223979"/>
            <a:ext cx="11012119" cy="12492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" y="5586801"/>
            <a:ext cx="11012119" cy="4542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2954" y="589788"/>
            <a:ext cx="675078" cy="68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788" y="1441552"/>
            <a:ext cx="11012119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DARK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589788" y="2406884"/>
            <a:ext cx="11012119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CTA VARIANT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691000" y="3656137"/>
            <a:ext cx="8809695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3826490"/>
            <a:ext cx="11012119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LEARN MORE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9788" y="4223979"/>
            <a:ext cx="11012119" cy="12492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CCCCC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Schedule a demo</a:t>
            </a:r>
            <a:pPr algn="l"/>
            <a:r>
              <a:rPr lang="en-US" sz="1600" dirty="0">
                <a:solidFill>
                  <a:srgbClr val="CCCCC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Book a discovery call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" y="5586801"/>
            <a:ext cx="11012119" cy="4542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potomacfund.com/contact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HYBRID MODE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323594"/>
            <a:ext cx="11277318" cy="52600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template = 'content' renders normal bullets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customize JS adds the yellow badge below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Use for small tweaks without going full freestyle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189" y="5966460"/>
            <a:ext cx="3413675" cy="41148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189" y="5966460"/>
            <a:ext cx="341367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CUSTOMIZED ✓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FREESTYLE 2×2 MATRIX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189" y="1323594"/>
            <a:ext cx="5552934" cy="2544318"/>
          </a:xfrm>
          <a:prstGeom prst="rect">
            <a:avLst/>
          </a:prstGeom>
          <a:solidFill>
            <a:srgbClr val="FEC00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189" y="1323594"/>
            <a:ext cx="5552934" cy="25443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HIGH RETURN / LOW RISK</a:t>
            </a:r>
            <a:endParaRPr lang="en-US" sz="7300" dirty="0"/>
          </a:p>
        </p:txBody>
      </p:sp>
      <p:sp>
        <p:nvSpPr>
          <p:cNvPr id="8" name="Shape 5"/>
          <p:cNvSpPr/>
          <p:nvPr/>
        </p:nvSpPr>
        <p:spPr>
          <a:xfrm>
            <a:off x="6181573" y="1323594"/>
            <a:ext cx="5552934" cy="2544318"/>
          </a:xfrm>
          <a:prstGeom prst="rect">
            <a:avLst/>
          </a:prstGeom>
          <a:solidFill>
            <a:srgbClr val="FDD25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81573" y="1323594"/>
            <a:ext cx="5552934" cy="25443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7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HIGH RETURN / HIGH RISK</a:t>
            </a:r>
            <a:endParaRPr lang="en-US" sz="6700" dirty="0"/>
          </a:p>
        </p:txBody>
      </p:sp>
      <p:sp>
        <p:nvSpPr>
          <p:cNvPr id="10" name="Shape 7"/>
          <p:cNvSpPr/>
          <p:nvPr/>
        </p:nvSpPr>
        <p:spPr>
          <a:xfrm>
            <a:off x="457189" y="4039362"/>
            <a:ext cx="5552934" cy="2544318"/>
          </a:xfrm>
          <a:prstGeom prst="rect">
            <a:avLst/>
          </a:prstGeom>
          <a:solidFill>
            <a:srgbClr val="DDDDDD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189" y="4039362"/>
            <a:ext cx="5552934" cy="25443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LOW RETURN / LOW RISK</a:t>
            </a:r>
            <a:endParaRPr lang="en-US" sz="7300" dirty="0"/>
          </a:p>
        </p:txBody>
      </p:sp>
      <p:sp>
        <p:nvSpPr>
          <p:cNvPr id="12" name="Shape 9"/>
          <p:cNvSpPr/>
          <p:nvPr/>
        </p:nvSpPr>
        <p:spPr>
          <a:xfrm>
            <a:off x="6181573" y="4039362"/>
            <a:ext cx="5552934" cy="2544318"/>
          </a:xfrm>
          <a:prstGeom prst="rect">
            <a:avLst/>
          </a:prstGeom>
          <a:solidFill>
            <a:srgbClr val="EB2F5C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81573" y="4039362"/>
            <a:ext cx="5552934" cy="25443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LOW RETURN / HIGH RISK</a:t>
            </a:r>
            <a:endParaRPr lang="en-US" sz="7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FREESTYLE — HUB &amp; SPOKES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55768" y="3633597"/>
            <a:ext cx="1280160" cy="64008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55768" y="3633597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CORE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318608" y="1680484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18608" y="168048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095848" y="1954804"/>
            <a:ext cx="20574" cy="199883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9647" y="2679901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9647" y="2679901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EXECUTION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095848" y="2954221"/>
            <a:ext cx="1731040" cy="9994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9647" y="4678733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9647" y="4678733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095848" y="3953637"/>
            <a:ext cx="1731040" cy="9994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18608" y="567815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18608" y="567815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OPS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6095848" y="3953637"/>
            <a:ext cx="20574" cy="199883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87568" y="4678733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87568" y="4678733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COMPLIANCE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4364808" y="3953637"/>
            <a:ext cx="1731040" cy="9994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87568" y="2679901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87568" y="2679901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CLIENT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4364808" y="2954221"/>
            <a:ext cx="1731040" cy="9994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88628" y="410322"/>
            <a:ext cx="1645879" cy="34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IMAGE SLIDE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Kitchen Sink (wide)</dc:title>
  <dc:subject>PptxGenJS Presentation</dc:subject>
  <dc:creator>Potomac</dc:creator>
  <cp:lastModifiedBy>Potomac</cp:lastModifiedBy>
  <cp:revision>1</cp:revision>
  <dcterms:created xsi:type="dcterms:W3CDTF">2026-04-17T19:13:13Z</dcterms:created>
  <dcterms:modified xsi:type="dcterms:W3CDTF">2026-04-17T19:13:13Z</dcterms:modified>
</cp:coreProperties>
</file>